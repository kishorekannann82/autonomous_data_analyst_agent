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1" name="Google Shape;47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9" name="Google Shape;61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1" name="Google Shape;6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9" name="Google Shape;75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C0">
              <a:alpha val="30196"/>
            </a:srgbClr>
          </a:solidFill>
          <a:ln w="12700" cap="flat" cmpd="sng">
            <a:solidFill>
              <a:srgbClr val="1565C0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B0FF">
              <a:alpha val="40000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8229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0B0FF">
              <a:alpha val="80000"/>
            </a:srgbClr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82296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AI • DATA SCIENCE • AUTOMATION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1417320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Autonomous Data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103120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F"/>
              </a:buClr>
              <a:buSzPts val="4600"/>
              <a:buFont typeface="Calibri"/>
              <a:buNone/>
            </a:pPr>
            <a:r>
              <a:rPr lang="en-US" sz="4600" b="1" i="0" u="none" strike="noStrike" cap="none">
                <a:solidFill>
                  <a:srgbClr val="00B0FF"/>
                </a:solidFill>
                <a:latin typeface="Calibri"/>
                <a:ea typeface="Calibri"/>
                <a:cs typeface="Calibri"/>
                <a:sym typeface="Calibri"/>
              </a:rPr>
              <a:t>Analyst Agent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01752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An End-to-End AI System for Automated Data Analysis,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Machine Learning &amp; Intelligent Reporting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Project Plan  |  Phase 0 → Phase 10  |  2025–2026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48640" y="3931920"/>
            <a:ext cx="1737360" cy="594360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548640" y="393192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0B0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234440" y="3931920"/>
            <a:ext cx="1051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560320" y="3931920"/>
            <a:ext cx="1737360" cy="594360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2560320" y="393192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0B0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246120" y="3931920"/>
            <a:ext cx="1051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572000" y="3931920"/>
            <a:ext cx="1737360" cy="594360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572000" y="393192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0B0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257800" y="3931920"/>
            <a:ext cx="1051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583680" y="3931920"/>
            <a:ext cx="1737360" cy="594360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583680" y="393192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00B0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7269480" y="3931920"/>
            <a:ext cx="1051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 Types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85800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2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5760" y="1051560"/>
            <a:ext cx="8412480" cy="960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65760" y="1051560"/>
            <a:ext cx="164592" cy="960120"/>
          </a:xfrm>
          <a:prstGeom prst="rect">
            <a:avLst/>
          </a:prstGeom>
          <a:solidFill>
            <a:srgbClr val="00B0FF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94360" y="10515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94360" y="137160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Build an AI-powered autonomous system that performs end-to-end data analysis — from raw CSV upload to insights, ML models &amp; reports — with zero manual effort.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5760" y="2240280"/>
            <a:ext cx="2651760" cy="2606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365760" y="2240280"/>
            <a:ext cx="2651760" cy="38404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57200" y="224028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Data Intelligence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02920" y="269748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Auto-detect schema, types, patterns, quality issues and target variables from any dataset.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200400" y="2240280"/>
            <a:ext cx="2651760" cy="2606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3200400" y="2240280"/>
            <a:ext cx="2651760" cy="384048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291840" y="224028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  AutoML Pipeline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337560" y="269748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Train 5+ ML models, tune hyperparameters, compare and rank them on a leaderboard automatically.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035040" y="2240280"/>
            <a:ext cx="2651760" cy="26060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6035040" y="2240280"/>
            <a:ext cx="2651760" cy="384048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126480" y="224028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 Smart Reporting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172200" y="269748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Generate HTML &amp; PDF reports with charts, insights and recommendations using an LLM layer.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USER WORKFLOW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85800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3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28600" y="1051560"/>
            <a:ext cx="1234440" cy="82296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28600" y="105156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28600" y="135331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Dataset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463040" y="1389888"/>
            <a:ext cx="228600" cy="164592"/>
          </a:xfrm>
          <a:prstGeom prst="rect">
            <a:avLst/>
          </a:prstGeom>
          <a:solidFill>
            <a:srgbClr val="00B0FF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691640" y="1051560"/>
            <a:ext cx="1234440" cy="822960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691640" y="105156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691640" y="135331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Understanding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926080" y="1389888"/>
            <a:ext cx="228600" cy="164592"/>
          </a:xfrm>
          <a:prstGeom prst="rect">
            <a:avLst/>
          </a:prstGeom>
          <a:solidFill>
            <a:srgbClr val="00B0FF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154680" y="1051560"/>
            <a:ext cx="1234440" cy="82296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154680" y="105156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154680" y="135331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 Check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389120" y="1389888"/>
            <a:ext cx="228600" cy="164592"/>
          </a:xfrm>
          <a:prstGeom prst="rect">
            <a:avLst/>
          </a:prstGeom>
          <a:solidFill>
            <a:srgbClr val="00B0FF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617720" y="1051560"/>
            <a:ext cx="1234440" cy="822960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617720" y="105156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17720" y="135331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852160" y="1389888"/>
            <a:ext cx="228600" cy="164592"/>
          </a:xfrm>
          <a:prstGeom prst="rect">
            <a:avLst/>
          </a:prstGeom>
          <a:solidFill>
            <a:srgbClr val="00B0FF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080760" y="1051560"/>
            <a:ext cx="1234440" cy="82296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080760" y="105156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080760" y="135331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 Generation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315200" y="1389888"/>
            <a:ext cx="228600" cy="164592"/>
          </a:xfrm>
          <a:prstGeom prst="rect">
            <a:avLst/>
          </a:prstGeom>
          <a:solidFill>
            <a:srgbClr val="00B0FF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543800" y="1051560"/>
            <a:ext cx="1234440" cy="822960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7543800" y="105156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543800" y="135331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366760" y="1051560"/>
            <a:ext cx="457200" cy="82296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8366760" y="105156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F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B0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360920" y="2103120"/>
            <a:ext cx="1234440" cy="82296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7360920" y="210312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360920" y="240487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AutoML Training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132320" y="2441448"/>
            <a:ext cx="228600" cy="164592"/>
          </a:xfrm>
          <a:prstGeom prst="rect">
            <a:avLst/>
          </a:prstGeom>
          <a:solidFill>
            <a:srgbClr val="00B0FF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5897880" y="2103120"/>
            <a:ext cx="1234440" cy="822960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897880" y="210312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897880" y="240487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669280" y="2441448"/>
            <a:ext cx="228600" cy="164592"/>
          </a:xfrm>
          <a:prstGeom prst="rect">
            <a:avLst/>
          </a:prstGeom>
          <a:solidFill>
            <a:srgbClr val="00B0FF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434840" y="2103120"/>
            <a:ext cx="1234440" cy="82296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4434840" y="210312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434840" y="240487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Generation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206240" y="2441448"/>
            <a:ext cx="228600" cy="164592"/>
          </a:xfrm>
          <a:prstGeom prst="rect">
            <a:avLst/>
          </a:prstGeom>
          <a:solidFill>
            <a:srgbClr val="00B0FF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2971800" y="2103120"/>
            <a:ext cx="1234440" cy="822960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2971800" y="210312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2971800" y="240487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 Generation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2743200" y="2441448"/>
            <a:ext cx="228600" cy="164592"/>
          </a:xfrm>
          <a:prstGeom prst="rect">
            <a:avLst/>
          </a:prstGeom>
          <a:solidFill>
            <a:srgbClr val="00B0FF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1508760" y="2103120"/>
            <a:ext cx="1234440" cy="822960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1508760" y="2103120"/>
            <a:ext cx="12344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508760" y="2404872"/>
            <a:ext cx="12344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With Data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0" y="2103120"/>
            <a:ext cx="457200" cy="82296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0" y="210312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0FF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B0FF"/>
                </a:solidFill>
                <a:latin typeface="Calibri"/>
                <a:ea typeface="Calibri"/>
                <a:cs typeface="Calibri"/>
                <a:sym typeface="Calibri"/>
              </a:rPr>
              <a:t>↙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3154680"/>
            <a:ext cx="1920240" cy="548640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548640" y="3154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✓  Upload any CSV/XLSX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560320" y="3154680"/>
            <a:ext cx="1920240" cy="548640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2651760" y="3154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✓  Zero manual coding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663440" y="3154680"/>
            <a:ext cx="1920240" cy="548640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754880" y="3154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✓  AI-powered insights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766560" y="3154680"/>
            <a:ext cx="1920240" cy="548640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00B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858000" y="3154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✓  Auto-generated reports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57200" y="3840480"/>
            <a:ext cx="8229600" cy="130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The agent autonomously processes your data from upload to insights — no manual intervention required at any step.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4008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MODULE 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40080" y="384048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Understanding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13232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4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1565C0">
              <a:alpha val="14901"/>
            </a:srgbClr>
          </a:solidFill>
          <a:ln w="12700" cap="flat" cmpd="sng">
            <a:solidFill>
              <a:srgbClr val="1565C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Automatically analyze any uploaded dataset — detect schema, types, and problem type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365760" y="1554480"/>
            <a:ext cx="5212080" cy="347472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WHAT IT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04672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Detect rows, columns &amp; data shape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04672" y="2441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Infer schema &amp; data types automatically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04672" y="29169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Identify numerical, categorical, datetime &amp; text columns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4672" y="33924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Detect candidate target columns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04672" y="3867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Determine ML problem type (classification / regression)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760720" y="1554480"/>
            <a:ext cx="3017520" cy="329184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760720" y="1554480"/>
            <a:ext cx="3017520" cy="347472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897880" y="1993392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989320" y="199339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Shape: 50,000 rows × 30 cols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Numerical: 12 columns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897880" y="3127248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989320" y="31272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Categorical: 10 columns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897880" y="3694176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5989320" y="369417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Target: 'survived' (binary)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897880" y="4261104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989320" y="426110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Problem Type: Classification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4008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D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6D00"/>
                </a:solidFill>
                <a:latin typeface="Calibri"/>
                <a:ea typeface="Calibri"/>
                <a:cs typeface="Calibri"/>
                <a:sym typeface="Calibri"/>
              </a:rPr>
              <a:t>MODULE 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40080" y="384048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Quality Analysis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713232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5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FF6D00">
              <a:alpha val="14901"/>
            </a:srgbClr>
          </a:solidFill>
          <a:ln w="12700" cap="flat" cmpd="sng">
            <a:solidFill>
              <a:srgbClr val="FF6D0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Detect all quality issues: missing values, duplicates, outliers and inconsistencies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365760" y="1554480"/>
            <a:ext cx="5212080" cy="347472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WHAT IT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804672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Detect missing values per column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04672" y="2441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Find duplicate rows automatically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04672" y="29169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Outlier detection using IQR, Z-Score &amp; Isolation Forest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04672" y="33924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Catch data inconsistencies (negative age, future dates)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04672" y="3867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Detect invalid categories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760720" y="1554480"/>
            <a:ext cx="3017520" cy="329184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5760720" y="1554480"/>
            <a:ext cx="3017520" cy="347472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897880" y="1993392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989320" y="199339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Missing: Age → 12, Salary → 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Duplicates: 25 rows found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897880" y="3127248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989320" y="31272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Outliers flagged per column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897880" y="3694176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989320" y="369417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Consistency errors listed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897880" y="4261104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989320" y="426110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Full quality score report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4008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MODULE 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40080" y="384048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13232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6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00C853">
              <a:alpha val="14901"/>
            </a:srgbClr>
          </a:solidFill>
          <a:ln w="12700" cap="flat" cmpd="sng">
            <a:solidFill>
              <a:srgbClr val="00C853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Auto-clean datasets with intelligent imputation, deduplication and outlier treatment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65760" y="1554480"/>
            <a:ext cx="5212080" cy="347472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WHAT IT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804672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Missing value imputation (Mean / Median / Mode / KNN)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804672" y="2441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Remove duplicate rows automatically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04672" y="29169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Outlier treatment: Capping, Winsorization, Removal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804672" y="33924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Type conversion: String → Date, String → Numeric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804672" y="3867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Save cleaned dataset to processed folder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760720" y="1554480"/>
            <a:ext cx="3017520" cy="329184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5760720" y="1554480"/>
            <a:ext cx="3017520" cy="347472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897880" y="1993392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5989320" y="199339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Cleaned dataset saved as CSV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Missing values: 0 remaining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5897880" y="3127248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5989320" y="31272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Duplicates: 0 remaining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897880" y="3694176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5989320" y="369417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Outliers treated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897880" y="4261104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5989320" y="426110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Audit log of all changes made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64008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MODULE 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40080" y="384048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EDA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13232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7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00BCD4">
              <a:alpha val="14901"/>
            </a:srgbClr>
          </a:solidFill>
          <a:ln w="12700" cap="flat" cmpd="sng">
            <a:solidFill>
              <a:srgbClr val="00BCD4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Generate charts, statistics and auto-insights for every column and relationship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365760" y="1554480"/>
            <a:ext cx="5212080" cy="347472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WHAT IT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804672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Statistical summary (mean, std, min, max, quartiles)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804672" y="2441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Histograms, density plots &amp; boxplots for numerical cols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804672" y="29169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Countplots &amp; frequency distribution for categorical cols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804672" y="33924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Correlation matrix &amp; scatterplots for relationships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804672" y="3867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Auto-generated text insights from patterns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5760720" y="1554480"/>
            <a:ext cx="3017520" cy="329184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5760720" y="1554480"/>
            <a:ext cx="3017520" cy="347472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5897880" y="1993392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5989320" y="199339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Dataset summary report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10+ chart types generated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897880" y="3127248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989320" y="31272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Correlation matrix heatmap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5897880" y="3694176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5989320" y="369417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Pairplots for key features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5897880" y="4261104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5989320" y="426110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Auto insights: 'Income ↔ Spending'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64008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C4DFF"/>
                </a:solidFill>
                <a:latin typeface="Calibri"/>
                <a:ea typeface="Calibri"/>
                <a:cs typeface="Calibri"/>
                <a:sym typeface="Calibri"/>
              </a:rPr>
              <a:t>MODULE 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40080" y="384048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713232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8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7C4DFF">
              <a:alpha val="14901"/>
            </a:srgbClr>
          </a:solidFill>
          <a:ln w="12700" cap="flat" cmpd="sng">
            <a:solidFill>
              <a:srgbClr val="7C4D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Transform raw features into ML-ready inputs with encoding, scaling and selection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365760" y="1554480"/>
            <a:ext cx="5212080" cy="347472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WHAT IT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804672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Label Encoding, One-Hot Encoding, Target Encoding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804672" y="2441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StandardScaler, MinMaxScaler, RobustScaler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804672" y="29169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Datetime feature extraction: Year, Month, Day, Quarter, Weekday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804672" y="33924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Feature selection: Correlation, Mutual Information, Importance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804672" y="3867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Feature importance ranking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760720" y="1554480"/>
            <a:ext cx="3017520" cy="329184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5760720" y="1554480"/>
            <a:ext cx="3017520" cy="347472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5897880" y="1993392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5989320" y="199339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Encoded categorical columns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Scaled numerical features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5897880" y="3127248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5989320" y="31272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New datetime features added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5897880" y="3694176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5989320" y="369417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Top-N features selected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897880" y="4261104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5989320" y="426110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Feature importance chart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64008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MODULE 06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640080" y="384048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AutoML Training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713232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9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1565C0">
              <a:alpha val="14901"/>
            </a:srgbClr>
          </a:solidFill>
          <a:ln w="12700" cap="flat" cmpd="sng">
            <a:solidFill>
              <a:srgbClr val="1565C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Automatically train, tune and rank multiple ML models — no code required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365760" y="1554480"/>
            <a:ext cx="5212080" cy="347472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WHAT IT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804672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Auto-detect Classification vs Regression task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804672" y="2441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Train 5 models: LR, RF, XGBoost, LightGBM, CatBoost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804672" y="29169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Hyperparameter tuning with Grid Search / Optuna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804672" y="33924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Cross-validation: KFold &amp; Stratified KFold (5 folds)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804672" y="3867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Generate ranked leaderboard of all models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5760720" y="1554480"/>
            <a:ext cx="3017520" cy="329184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5760720" y="1554480"/>
            <a:ext cx="3017520" cy="347472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5897880" y="1993392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5989320" y="199339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1. XGBoost → 91% accuracy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2. Random Forest → 89%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5897880" y="3127248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5989320" y="31272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3. CatBoost → 88%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5897880" y="3694176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5989320" y="369417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Best model saved to disk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5897880" y="4261104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5989320" y="426110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Leaderboard with all metrics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64008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6D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6D00"/>
                </a:solidFill>
                <a:latin typeface="Calibri"/>
                <a:ea typeface="Calibri"/>
                <a:cs typeface="Calibri"/>
                <a:sym typeface="Calibri"/>
              </a:rPr>
              <a:t>MODULE 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640080" y="384048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713232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10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FF6D00">
              <a:alpha val="14901"/>
            </a:srgbClr>
          </a:solidFill>
          <a:ln w="12700" cap="flat" cmpd="sng">
            <a:solidFill>
              <a:srgbClr val="FF6D0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Deep-dive metrics and visualizations to validate your best model's performance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365760" y="1554480"/>
            <a:ext cx="5212080" cy="347472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WHAT IT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804672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Classification: Accuracy, Precision, Recall, F1, ROC AUC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804672" y="2441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Regression: MAE, RMSE, MAPE, R²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804672" y="29169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Confusion matrix visualization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804672" y="33924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ROC curve with AUC score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804672" y="3867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Residual plot for regression models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5760720" y="1554480"/>
            <a:ext cx="3017520" cy="329184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5760720" y="1554480"/>
            <a:ext cx="3017520" cy="347472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5897880" y="1993392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5989320" y="199339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Full metrics table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Confusion matrix chart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5897880" y="3127248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5989320" y="31272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ROC curve plotted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5897880" y="3694176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2"/>
          <p:cNvSpPr/>
          <p:nvPr/>
        </p:nvSpPr>
        <p:spPr>
          <a:xfrm>
            <a:off x="5989320" y="369417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Residual distribution plot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5897880" y="4261104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5989320" y="426110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Best model summary card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64008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MODULE 08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640080" y="384048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Generation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713232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11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00BCD4">
              <a:alpha val="14901"/>
            </a:srgbClr>
          </a:solidFill>
          <a:ln w="12700" cap="flat" cmpd="sng">
            <a:solidFill>
              <a:srgbClr val="00BCD4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LLM analyzes your results and generates business-ready insights and recommendations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365760" y="1554480"/>
            <a:ext cx="5212080" cy="347472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WHAT IT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804672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Identify top influencing features from model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804672" y="2441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Generate plain-English business insights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804672" y="29169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Highlight anomalies and patterns in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804672" y="33924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Provide actionable recommendations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804672" y="3867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Powered by Claude AI (Anthropic)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5760720" y="1554480"/>
            <a:ext cx="3017520" cy="329184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5760720" y="1554480"/>
            <a:ext cx="3017520" cy="347472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5897880" y="1993392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5989320" y="199339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Top features: Age, Income, Tenure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Insight: '25-35 age = 60% sales'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5897880" y="3127248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5989320" y="31272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Recommendation: 'Target segment A'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5897880" y="3694176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3"/>
          <p:cNvSpPr/>
          <p:nvPr/>
        </p:nvSpPr>
        <p:spPr>
          <a:xfrm>
            <a:off x="5989320" y="369417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Risk flags highlighted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5897880" y="4261104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5989320" y="426110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Full insight narrative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64008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MODULE 09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640080" y="384048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 Generation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713232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12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00C853">
              <a:alpha val="14901"/>
            </a:srgbClr>
          </a:solidFill>
          <a:ln w="12700" cap="flat" cmpd="sng">
            <a:solidFill>
              <a:srgbClr val="00C853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4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Generate professional HTML &amp; PDF reports containing all analysis, charts and insights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365760" y="1554480"/>
            <a:ext cx="5212080" cy="347472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WHAT IT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804672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HTML report with interactive charts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804672" y="2441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PDF executive summary version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804672" y="29169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Dataset summary section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804672" y="33924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EDA charts embedded in report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4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804672" y="3867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Model results &amp; insights included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5760720" y="1554480"/>
            <a:ext cx="3017520" cy="329184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4"/>
          <p:cNvSpPr/>
          <p:nvPr/>
        </p:nvSpPr>
        <p:spPr>
          <a:xfrm>
            <a:off x="5760720" y="1554480"/>
            <a:ext cx="3017520" cy="347472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5897880" y="1993392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5989320" y="199339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report.html (interactive)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report.pdf (executive)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5897880" y="3127248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5989320" y="31272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Charts embedded as images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5897880" y="3694176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5989320" y="369417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Insights &amp; recommendations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5897880" y="4261104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4"/>
          <p:cNvSpPr/>
          <p:nvPr/>
        </p:nvSpPr>
        <p:spPr>
          <a:xfrm>
            <a:off x="5989320" y="426110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Ready to share with stakeholders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5"/>
          <p:cNvSpPr/>
          <p:nvPr/>
        </p:nvSpPr>
        <p:spPr>
          <a:xfrm>
            <a:off x="0" y="0"/>
            <a:ext cx="548640" cy="914400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640080" y="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C4D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C4DFF"/>
                </a:solidFill>
                <a:latin typeface="Calibri"/>
                <a:ea typeface="Calibri"/>
                <a:cs typeface="Calibri"/>
                <a:sym typeface="Calibri"/>
              </a:rPr>
              <a:t>MODULE 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640080" y="384048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With Data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713232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13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solidFill>
            <a:srgbClr val="7C4DFF">
              <a:alpha val="14901"/>
            </a:srgbClr>
          </a:solidFill>
          <a:ln w="12700" cap="flat" cmpd="sng">
            <a:solidFill>
              <a:srgbClr val="7C4D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548640" y="10058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Ask any question about your dataset in natural language — AI answers instantly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365760" y="1554480"/>
            <a:ext cx="5212080" cy="32918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365760" y="1554480"/>
            <a:ext cx="5212080" cy="347472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  WHAT IT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502920" y="1965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804672" y="1965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Natural language interface powered by Claude AI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502920" y="244144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804672" y="2441448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Ask: 'Which feature is most important?'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502920" y="291693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804672" y="2916936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Ask: 'Show average salary by city'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502920" y="339242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804672" y="3392424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Ask: 'Which model performed best?'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5029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804672" y="386791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Context-aware: remembers full dataset &amp; 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5760720" y="1554480"/>
            <a:ext cx="3017520" cy="329184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5760720" y="1554480"/>
            <a:ext cx="3017520" cy="347472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5897880" y="15544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 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5897880" y="1993392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5989320" y="199339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'XGBoost performed best at 91%'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5989320" y="256032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'Age is the top feature'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5897880" y="3127248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5989320" y="3127248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Auto-generated charts on demand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5897880" y="3694176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5989320" y="3694176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Table outputs for aggregations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5897880" y="4261104"/>
            <a:ext cx="2743200" cy="438912"/>
          </a:xfrm>
          <a:prstGeom prst="rect">
            <a:avLst/>
          </a:prstGeom>
          <a:solidFill>
            <a:srgbClr val="FFFFFF">
              <a:alpha val="10196"/>
            </a:srgbClr>
          </a:solidFill>
          <a:ln w="12700" cap="flat" cmpd="sng">
            <a:solidFill>
              <a:srgbClr val="00B0FF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5989320" y="426110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▸  Full conversational memory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6858000" y="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SLIDE 14 / 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365760" y="1051560"/>
            <a:ext cx="2651760" cy="182880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6"/>
          <p:cNvSpPr/>
          <p:nvPr/>
        </p:nvSpPr>
        <p:spPr>
          <a:xfrm>
            <a:off x="365760" y="1051560"/>
            <a:ext cx="2651760" cy="38404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6"/>
          <p:cNvSpPr/>
          <p:nvPr/>
        </p:nvSpPr>
        <p:spPr>
          <a:xfrm>
            <a:off x="457200" y="10515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502920" y="1527048"/>
            <a:ext cx="128016" cy="20116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713232" y="15087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6"/>
          <p:cNvSpPr/>
          <p:nvPr/>
        </p:nvSpPr>
        <p:spPr>
          <a:xfrm>
            <a:off x="502920" y="1911096"/>
            <a:ext cx="128016" cy="20116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6"/>
          <p:cNvSpPr/>
          <p:nvPr/>
        </p:nvSpPr>
        <p:spPr>
          <a:xfrm>
            <a:off x="713232" y="189280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3200400" y="1051560"/>
            <a:ext cx="2651760" cy="182880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6"/>
          <p:cNvSpPr/>
          <p:nvPr/>
        </p:nvSpPr>
        <p:spPr>
          <a:xfrm>
            <a:off x="3200400" y="1051560"/>
            <a:ext cx="2651760" cy="384048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6"/>
          <p:cNvSpPr/>
          <p:nvPr/>
        </p:nvSpPr>
        <p:spPr>
          <a:xfrm>
            <a:off x="3291840" y="10515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3337560" y="1527048"/>
            <a:ext cx="128016" cy="201168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6"/>
          <p:cNvSpPr/>
          <p:nvPr/>
        </p:nvSpPr>
        <p:spPr>
          <a:xfrm>
            <a:off x="3547872" y="15087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3337560" y="1911096"/>
            <a:ext cx="128016" cy="201168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6"/>
          <p:cNvSpPr/>
          <p:nvPr/>
        </p:nvSpPr>
        <p:spPr>
          <a:xfrm>
            <a:off x="3547872" y="189280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3337560" y="2295144"/>
            <a:ext cx="128016" cy="201168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6"/>
          <p:cNvSpPr/>
          <p:nvPr/>
        </p:nvSpPr>
        <p:spPr>
          <a:xfrm>
            <a:off x="3547872" y="227685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6035040" y="1051560"/>
            <a:ext cx="2651760" cy="182880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6"/>
          <p:cNvSpPr/>
          <p:nvPr/>
        </p:nvSpPr>
        <p:spPr>
          <a:xfrm>
            <a:off x="6035040" y="1051560"/>
            <a:ext cx="2651760" cy="384048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6"/>
          <p:cNvSpPr/>
          <p:nvPr/>
        </p:nvSpPr>
        <p:spPr>
          <a:xfrm>
            <a:off x="6126480" y="10515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6172200" y="1527048"/>
            <a:ext cx="128016" cy="201168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6"/>
          <p:cNvSpPr/>
          <p:nvPr/>
        </p:nvSpPr>
        <p:spPr>
          <a:xfrm>
            <a:off x="6382512" y="150876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6172200" y="1911096"/>
            <a:ext cx="128016" cy="201168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6"/>
          <p:cNvSpPr/>
          <p:nvPr/>
        </p:nvSpPr>
        <p:spPr>
          <a:xfrm>
            <a:off x="6382512" y="189280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6172200" y="2295144"/>
            <a:ext cx="128016" cy="201168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6"/>
          <p:cNvSpPr/>
          <p:nvPr/>
        </p:nvSpPr>
        <p:spPr>
          <a:xfrm>
            <a:off x="6382512" y="227685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LightGBM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6172200" y="2679192"/>
            <a:ext cx="128016" cy="201168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6"/>
          <p:cNvSpPr/>
          <p:nvPr/>
        </p:nvSpPr>
        <p:spPr>
          <a:xfrm>
            <a:off x="6382512" y="2660904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CatBoost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365760" y="3017520"/>
            <a:ext cx="2651760" cy="182880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6"/>
          <p:cNvSpPr/>
          <p:nvPr/>
        </p:nvSpPr>
        <p:spPr>
          <a:xfrm>
            <a:off x="365760" y="3017520"/>
            <a:ext cx="2651760" cy="384048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6"/>
          <p:cNvSpPr/>
          <p:nvPr/>
        </p:nvSpPr>
        <p:spPr>
          <a:xfrm>
            <a:off x="457200" y="30175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502920" y="3493008"/>
            <a:ext cx="128016" cy="201168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6"/>
          <p:cNvSpPr/>
          <p:nvPr/>
        </p:nvSpPr>
        <p:spPr>
          <a:xfrm>
            <a:off x="713232" y="347472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PyCaret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6"/>
          <p:cNvSpPr/>
          <p:nvPr/>
        </p:nvSpPr>
        <p:spPr>
          <a:xfrm>
            <a:off x="502920" y="3877056"/>
            <a:ext cx="128016" cy="201168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6"/>
          <p:cNvSpPr/>
          <p:nvPr/>
        </p:nvSpPr>
        <p:spPr>
          <a:xfrm>
            <a:off x="713232" y="385876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FLAML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6"/>
          <p:cNvSpPr/>
          <p:nvPr/>
        </p:nvSpPr>
        <p:spPr>
          <a:xfrm>
            <a:off x="502920" y="4261104"/>
            <a:ext cx="128016" cy="201168"/>
          </a:xfrm>
          <a:prstGeom prst="rect">
            <a:avLst/>
          </a:prstGeom>
          <a:solidFill>
            <a:srgbClr val="FF6D00"/>
          </a:solidFill>
          <a:ln w="12700" cap="flat" cmpd="sng">
            <a:solidFill>
              <a:srgbClr val="FF6D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6"/>
          <p:cNvSpPr/>
          <p:nvPr/>
        </p:nvSpPr>
        <p:spPr>
          <a:xfrm>
            <a:off x="713232" y="424281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AutoGluon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6"/>
          <p:cNvSpPr/>
          <p:nvPr/>
        </p:nvSpPr>
        <p:spPr>
          <a:xfrm>
            <a:off x="3200400" y="3017520"/>
            <a:ext cx="2651760" cy="182880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6"/>
          <p:cNvSpPr/>
          <p:nvPr/>
        </p:nvSpPr>
        <p:spPr>
          <a:xfrm>
            <a:off x="3200400" y="3017520"/>
            <a:ext cx="2651760" cy="384048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6"/>
          <p:cNvSpPr/>
          <p:nvPr/>
        </p:nvSpPr>
        <p:spPr>
          <a:xfrm>
            <a:off x="3291840" y="30175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/ AI Layer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6"/>
          <p:cNvSpPr/>
          <p:nvPr/>
        </p:nvSpPr>
        <p:spPr>
          <a:xfrm>
            <a:off x="3337560" y="3493008"/>
            <a:ext cx="128016" cy="201168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6"/>
          <p:cNvSpPr/>
          <p:nvPr/>
        </p:nvSpPr>
        <p:spPr>
          <a:xfrm>
            <a:off x="3547872" y="347472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Claude API (Anthropic)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6"/>
          <p:cNvSpPr/>
          <p:nvPr/>
        </p:nvSpPr>
        <p:spPr>
          <a:xfrm>
            <a:off x="3337560" y="3877056"/>
            <a:ext cx="128016" cy="201168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6"/>
          <p:cNvSpPr/>
          <p:nvPr/>
        </p:nvSpPr>
        <p:spPr>
          <a:xfrm>
            <a:off x="3547872" y="385876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6"/>
          <p:cNvSpPr/>
          <p:nvPr/>
        </p:nvSpPr>
        <p:spPr>
          <a:xfrm>
            <a:off x="3337560" y="4261104"/>
            <a:ext cx="128016" cy="201168"/>
          </a:xfrm>
          <a:prstGeom prst="rect">
            <a:avLst/>
          </a:prstGeom>
          <a:solidFill>
            <a:srgbClr val="00C853"/>
          </a:solidFill>
          <a:ln w="12700" cap="flat" cmpd="sng">
            <a:solidFill>
              <a:srgbClr val="00C8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6"/>
          <p:cNvSpPr/>
          <p:nvPr/>
        </p:nvSpPr>
        <p:spPr>
          <a:xfrm>
            <a:off x="3547872" y="4242816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/>
          <p:nvPr/>
        </p:nvSpPr>
        <p:spPr>
          <a:xfrm>
            <a:off x="6035040" y="3017520"/>
            <a:ext cx="2651760" cy="182880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6"/>
          <p:cNvSpPr/>
          <p:nvPr/>
        </p:nvSpPr>
        <p:spPr>
          <a:xfrm>
            <a:off x="6035040" y="3017520"/>
            <a:ext cx="2651760" cy="38404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6"/>
          <p:cNvSpPr/>
          <p:nvPr/>
        </p:nvSpPr>
        <p:spPr>
          <a:xfrm>
            <a:off x="6126480" y="301752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6"/>
          <p:cNvSpPr/>
          <p:nvPr/>
        </p:nvSpPr>
        <p:spPr>
          <a:xfrm>
            <a:off x="6172200" y="3493008"/>
            <a:ext cx="128016" cy="20116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6"/>
          <p:cNvSpPr/>
          <p:nvPr/>
        </p:nvSpPr>
        <p:spPr>
          <a:xfrm>
            <a:off x="6382512" y="347472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6172200" y="3877056"/>
            <a:ext cx="128016" cy="20116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16"/>
          <p:cNvSpPr/>
          <p:nvPr/>
        </p:nvSpPr>
        <p:spPr>
          <a:xfrm>
            <a:off x="6382512" y="3858768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Jinja2 Templates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CD4"/>
          </a:solidFill>
          <a:ln w="12700" cap="flat" cmpd="sng">
            <a:solidFill>
              <a:srgbClr val="00BC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7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COLLECTION PLAN  —  10 Kaggle Datasets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320040" y="1005840"/>
            <a:ext cx="8503920" cy="347472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7"/>
          <p:cNvSpPr/>
          <p:nvPr/>
        </p:nvSpPr>
        <p:spPr>
          <a:xfrm>
            <a:off x="411480" y="10058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914400" y="10058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5212080" y="10058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Task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7223760" y="10058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Challenge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320040" y="1389888"/>
            <a:ext cx="8503920" cy="338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7"/>
          <p:cNvSpPr/>
          <p:nvPr/>
        </p:nvSpPr>
        <p:spPr>
          <a:xfrm>
            <a:off x="320040" y="1389888"/>
            <a:ext cx="384048" cy="338328"/>
          </a:xfrm>
          <a:prstGeom prst="rect">
            <a:avLst/>
          </a:prstGeom>
          <a:solidFill>
            <a:srgbClr val="00BCD4">
              <a:alpha val="80000"/>
            </a:srgbClr>
          </a:solidFill>
          <a:ln w="12700" cap="flat" cmpd="sng">
            <a:solidFill>
              <a:srgbClr val="00BCD4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7"/>
          <p:cNvSpPr/>
          <p:nvPr/>
        </p:nvSpPr>
        <p:spPr>
          <a:xfrm>
            <a:off x="320040" y="1389888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777240" y="1389888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Titanic - Survival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7"/>
          <p:cNvSpPr/>
          <p:nvPr/>
        </p:nvSpPr>
        <p:spPr>
          <a:xfrm>
            <a:off x="3291840" y="1389888"/>
            <a:ext cx="20116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5394960" y="1389888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Missing values, mixed types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7"/>
          <p:cNvSpPr/>
          <p:nvPr/>
        </p:nvSpPr>
        <p:spPr>
          <a:xfrm>
            <a:off x="320040" y="1746504"/>
            <a:ext cx="8503920" cy="338328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7"/>
          <p:cNvSpPr/>
          <p:nvPr/>
        </p:nvSpPr>
        <p:spPr>
          <a:xfrm>
            <a:off x="320040" y="1746504"/>
            <a:ext cx="384048" cy="338328"/>
          </a:xfrm>
          <a:prstGeom prst="rect">
            <a:avLst/>
          </a:prstGeom>
          <a:solidFill>
            <a:srgbClr val="00BCD4">
              <a:alpha val="80000"/>
            </a:srgbClr>
          </a:solidFill>
          <a:ln w="12700" cap="flat" cmpd="sng">
            <a:solidFill>
              <a:srgbClr val="00BCD4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7"/>
          <p:cNvSpPr/>
          <p:nvPr/>
        </p:nvSpPr>
        <p:spPr>
          <a:xfrm>
            <a:off x="320040" y="1746504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7"/>
          <p:cNvSpPr/>
          <p:nvPr/>
        </p:nvSpPr>
        <p:spPr>
          <a:xfrm>
            <a:off x="777240" y="1746504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House Prices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7"/>
          <p:cNvSpPr/>
          <p:nvPr/>
        </p:nvSpPr>
        <p:spPr>
          <a:xfrm>
            <a:off x="3291840" y="1746504"/>
            <a:ext cx="20116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7"/>
          <p:cNvSpPr/>
          <p:nvPr/>
        </p:nvSpPr>
        <p:spPr>
          <a:xfrm>
            <a:off x="5394960" y="1746504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80 features, outliers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7"/>
          <p:cNvSpPr/>
          <p:nvPr/>
        </p:nvSpPr>
        <p:spPr>
          <a:xfrm>
            <a:off x="320040" y="2103120"/>
            <a:ext cx="8503920" cy="338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7"/>
          <p:cNvSpPr/>
          <p:nvPr/>
        </p:nvSpPr>
        <p:spPr>
          <a:xfrm>
            <a:off x="320040" y="2103120"/>
            <a:ext cx="384048" cy="338328"/>
          </a:xfrm>
          <a:prstGeom prst="rect">
            <a:avLst/>
          </a:prstGeom>
          <a:solidFill>
            <a:srgbClr val="00BCD4">
              <a:alpha val="80000"/>
            </a:srgbClr>
          </a:solidFill>
          <a:ln w="12700" cap="flat" cmpd="sng">
            <a:solidFill>
              <a:srgbClr val="00BCD4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7"/>
          <p:cNvSpPr/>
          <p:nvPr/>
        </p:nvSpPr>
        <p:spPr>
          <a:xfrm>
            <a:off x="320040" y="2103120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777240" y="2103120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HR Employee Attrition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7"/>
          <p:cNvSpPr/>
          <p:nvPr/>
        </p:nvSpPr>
        <p:spPr>
          <a:xfrm>
            <a:off x="3291840" y="2103120"/>
            <a:ext cx="20116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5394960" y="2103120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Categorical-heavy, business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320040" y="2459736"/>
            <a:ext cx="8503920" cy="338328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7"/>
          <p:cNvSpPr/>
          <p:nvPr/>
        </p:nvSpPr>
        <p:spPr>
          <a:xfrm>
            <a:off x="320040" y="2459736"/>
            <a:ext cx="384048" cy="338328"/>
          </a:xfrm>
          <a:prstGeom prst="rect">
            <a:avLst/>
          </a:prstGeom>
          <a:solidFill>
            <a:srgbClr val="00BCD4">
              <a:alpha val="80000"/>
            </a:srgbClr>
          </a:solidFill>
          <a:ln w="12700" cap="flat" cmpd="sng">
            <a:solidFill>
              <a:srgbClr val="00BCD4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7"/>
          <p:cNvSpPr/>
          <p:nvPr/>
        </p:nvSpPr>
        <p:spPr>
          <a:xfrm>
            <a:off x="320040" y="2459736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777240" y="2459736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Credit Card Fraud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3291840" y="2459736"/>
            <a:ext cx="20116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Binary Classif.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5394960" y="2459736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Imbalanced classes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7"/>
          <p:cNvSpPr/>
          <p:nvPr/>
        </p:nvSpPr>
        <p:spPr>
          <a:xfrm>
            <a:off x="320040" y="2816352"/>
            <a:ext cx="8503920" cy="338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17"/>
          <p:cNvSpPr/>
          <p:nvPr/>
        </p:nvSpPr>
        <p:spPr>
          <a:xfrm>
            <a:off x="320040" y="2816352"/>
            <a:ext cx="384048" cy="338328"/>
          </a:xfrm>
          <a:prstGeom prst="rect">
            <a:avLst/>
          </a:prstGeom>
          <a:solidFill>
            <a:srgbClr val="00BCD4">
              <a:alpha val="80000"/>
            </a:srgbClr>
          </a:solidFill>
          <a:ln w="12700" cap="flat" cmpd="sng">
            <a:solidFill>
              <a:srgbClr val="00BCD4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7"/>
          <p:cNvSpPr/>
          <p:nvPr/>
        </p:nvSpPr>
        <p:spPr>
          <a:xfrm>
            <a:off x="320040" y="2816352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777240" y="2816352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E-Commerce Sales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3291840" y="2816352"/>
            <a:ext cx="20116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5394960" y="2816352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Datetime, text features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320040" y="3172968"/>
            <a:ext cx="8503920" cy="338328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7"/>
          <p:cNvSpPr/>
          <p:nvPr/>
        </p:nvSpPr>
        <p:spPr>
          <a:xfrm>
            <a:off x="320040" y="3172968"/>
            <a:ext cx="384048" cy="338328"/>
          </a:xfrm>
          <a:prstGeom prst="rect">
            <a:avLst/>
          </a:prstGeom>
          <a:solidFill>
            <a:srgbClr val="00BCD4">
              <a:alpha val="80000"/>
            </a:srgbClr>
          </a:solidFill>
          <a:ln w="12700" cap="flat" cmpd="sng">
            <a:solidFill>
              <a:srgbClr val="00BCD4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7"/>
          <p:cNvSpPr/>
          <p:nvPr/>
        </p:nvSpPr>
        <p:spPr>
          <a:xfrm>
            <a:off x="320040" y="3172968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777240" y="3172968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Customer Churn (Telco)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3291840" y="3172968"/>
            <a:ext cx="20116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5394960" y="3172968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Mixed types, business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7"/>
          <p:cNvSpPr/>
          <p:nvPr/>
        </p:nvSpPr>
        <p:spPr>
          <a:xfrm>
            <a:off x="320040" y="3529584"/>
            <a:ext cx="8503920" cy="338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17"/>
          <p:cNvSpPr/>
          <p:nvPr/>
        </p:nvSpPr>
        <p:spPr>
          <a:xfrm>
            <a:off x="320040" y="3529584"/>
            <a:ext cx="384048" cy="338328"/>
          </a:xfrm>
          <a:prstGeom prst="rect">
            <a:avLst/>
          </a:prstGeom>
          <a:solidFill>
            <a:srgbClr val="00BCD4">
              <a:alpha val="80000"/>
            </a:srgbClr>
          </a:solidFill>
          <a:ln w="12700" cap="flat" cmpd="sng">
            <a:solidFill>
              <a:srgbClr val="00BCD4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7"/>
          <p:cNvSpPr/>
          <p:nvPr/>
        </p:nvSpPr>
        <p:spPr>
          <a:xfrm>
            <a:off x="320040" y="3529584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777240" y="3529584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Medical Insurance Cost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7"/>
          <p:cNvSpPr/>
          <p:nvPr/>
        </p:nvSpPr>
        <p:spPr>
          <a:xfrm>
            <a:off x="3291840" y="3529584"/>
            <a:ext cx="20116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Regression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5394960" y="3529584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Clean, beginner-friendly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320040" y="3886200"/>
            <a:ext cx="8503920" cy="338328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7"/>
          <p:cNvSpPr/>
          <p:nvPr/>
        </p:nvSpPr>
        <p:spPr>
          <a:xfrm>
            <a:off x="320040" y="3886200"/>
            <a:ext cx="384048" cy="338328"/>
          </a:xfrm>
          <a:prstGeom prst="rect">
            <a:avLst/>
          </a:prstGeom>
          <a:solidFill>
            <a:srgbClr val="00BCD4">
              <a:alpha val="80000"/>
            </a:srgbClr>
          </a:solidFill>
          <a:ln w="12700" cap="flat" cmpd="sng">
            <a:solidFill>
              <a:srgbClr val="00BCD4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7"/>
          <p:cNvSpPr/>
          <p:nvPr/>
        </p:nvSpPr>
        <p:spPr>
          <a:xfrm>
            <a:off x="320040" y="3886200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7"/>
          <p:cNvSpPr/>
          <p:nvPr/>
        </p:nvSpPr>
        <p:spPr>
          <a:xfrm>
            <a:off x="777240" y="3886200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Zomato Restaurants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7"/>
          <p:cNvSpPr/>
          <p:nvPr/>
        </p:nvSpPr>
        <p:spPr>
          <a:xfrm>
            <a:off x="3291840" y="3886200"/>
            <a:ext cx="20116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Regression+EDA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5394960" y="3886200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Text, ratings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7"/>
          <p:cNvSpPr/>
          <p:nvPr/>
        </p:nvSpPr>
        <p:spPr>
          <a:xfrm>
            <a:off x="320040" y="4242816"/>
            <a:ext cx="8503920" cy="3383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17"/>
          <p:cNvSpPr/>
          <p:nvPr/>
        </p:nvSpPr>
        <p:spPr>
          <a:xfrm>
            <a:off x="320040" y="4242816"/>
            <a:ext cx="384048" cy="338328"/>
          </a:xfrm>
          <a:prstGeom prst="rect">
            <a:avLst/>
          </a:prstGeom>
          <a:solidFill>
            <a:srgbClr val="00BCD4">
              <a:alpha val="80000"/>
            </a:srgbClr>
          </a:solidFill>
          <a:ln w="12700" cap="flat" cmpd="sng">
            <a:solidFill>
              <a:srgbClr val="00BCD4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7"/>
          <p:cNvSpPr/>
          <p:nvPr/>
        </p:nvSpPr>
        <p:spPr>
          <a:xfrm>
            <a:off x="320040" y="4242816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7"/>
          <p:cNvSpPr/>
          <p:nvPr/>
        </p:nvSpPr>
        <p:spPr>
          <a:xfrm>
            <a:off x="777240" y="4242816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Diabetes Prediction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7"/>
          <p:cNvSpPr/>
          <p:nvPr/>
        </p:nvSpPr>
        <p:spPr>
          <a:xfrm>
            <a:off x="3291840" y="4242816"/>
            <a:ext cx="20116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Binary Classif.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7"/>
          <p:cNvSpPr/>
          <p:nvPr/>
        </p:nvSpPr>
        <p:spPr>
          <a:xfrm>
            <a:off x="5394960" y="4242816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Medical, outliers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7"/>
          <p:cNvSpPr/>
          <p:nvPr/>
        </p:nvSpPr>
        <p:spPr>
          <a:xfrm>
            <a:off x="320040" y="4599432"/>
            <a:ext cx="8503920" cy="338328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7"/>
          <p:cNvSpPr/>
          <p:nvPr/>
        </p:nvSpPr>
        <p:spPr>
          <a:xfrm>
            <a:off x="320040" y="4599432"/>
            <a:ext cx="384048" cy="338328"/>
          </a:xfrm>
          <a:prstGeom prst="rect">
            <a:avLst/>
          </a:prstGeom>
          <a:solidFill>
            <a:srgbClr val="00BCD4">
              <a:alpha val="80000"/>
            </a:srgbClr>
          </a:solidFill>
          <a:ln w="12700" cap="flat" cmpd="sng">
            <a:solidFill>
              <a:srgbClr val="00BCD4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17"/>
          <p:cNvSpPr/>
          <p:nvPr/>
        </p:nvSpPr>
        <p:spPr>
          <a:xfrm>
            <a:off x="320040" y="4599432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7"/>
          <p:cNvSpPr/>
          <p:nvPr/>
        </p:nvSpPr>
        <p:spPr>
          <a:xfrm>
            <a:off x="777240" y="4599432"/>
            <a:ext cx="2286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F3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0F1F3D"/>
                </a:solidFill>
                <a:latin typeface="Calibri"/>
                <a:ea typeface="Calibri"/>
                <a:cs typeface="Calibri"/>
                <a:sym typeface="Calibri"/>
              </a:rPr>
              <a:t>Retail Sales Forecasting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7"/>
          <p:cNvSpPr/>
          <p:nvPr/>
        </p:nvSpPr>
        <p:spPr>
          <a:xfrm>
            <a:off x="3291840" y="4599432"/>
            <a:ext cx="201168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Time Series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7"/>
          <p:cNvSpPr/>
          <p:nvPr/>
        </p:nvSpPr>
        <p:spPr>
          <a:xfrm>
            <a:off x="5394960" y="4599432"/>
            <a:ext cx="329184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Datetime forecasting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8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PHASES &amp; ARCHITECTURE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8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8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PHASES (Step by Step)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320040" y="1435608"/>
            <a:ext cx="4114800" cy="301752"/>
          </a:xfrm>
          <a:prstGeom prst="rect">
            <a:avLst/>
          </a:prstGeom>
          <a:solidFill>
            <a:srgbClr val="E8F5E9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8"/>
          <p:cNvSpPr/>
          <p:nvPr/>
        </p:nvSpPr>
        <p:spPr>
          <a:xfrm>
            <a:off x="320040" y="1435608"/>
            <a:ext cx="868680" cy="301752"/>
          </a:xfrm>
          <a:prstGeom prst="rect">
            <a:avLst/>
          </a:prstGeom>
          <a:solidFill>
            <a:srgbClr val="00C853">
              <a:alpha val="80000"/>
            </a:srgbClr>
          </a:solidFill>
          <a:ln w="12700" cap="flat" cmpd="sng">
            <a:solidFill>
              <a:srgbClr val="00C853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18"/>
          <p:cNvSpPr/>
          <p:nvPr/>
        </p:nvSpPr>
        <p:spPr>
          <a:xfrm>
            <a:off x="347472" y="1435608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/>
          <p:nvPr/>
        </p:nvSpPr>
        <p:spPr>
          <a:xfrm>
            <a:off x="1234440" y="1435608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Project Setup &amp; Folder Structure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8"/>
          <p:cNvSpPr/>
          <p:nvPr/>
        </p:nvSpPr>
        <p:spPr>
          <a:xfrm>
            <a:off x="3657600" y="1435608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8"/>
          <p:cNvSpPr/>
          <p:nvPr/>
        </p:nvSpPr>
        <p:spPr>
          <a:xfrm>
            <a:off x="320040" y="1764792"/>
            <a:ext cx="4114800" cy="301752"/>
          </a:xfrm>
          <a:prstGeom prst="rect">
            <a:avLst/>
          </a:prstGeom>
          <a:solidFill>
            <a:srgbClr val="E8F5E9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18"/>
          <p:cNvSpPr/>
          <p:nvPr/>
        </p:nvSpPr>
        <p:spPr>
          <a:xfrm>
            <a:off x="320040" y="1764792"/>
            <a:ext cx="868680" cy="301752"/>
          </a:xfrm>
          <a:prstGeom prst="rect">
            <a:avLst/>
          </a:prstGeom>
          <a:solidFill>
            <a:srgbClr val="00C853">
              <a:alpha val="80000"/>
            </a:srgbClr>
          </a:solidFill>
          <a:ln w="12700" cap="flat" cmpd="sng">
            <a:solidFill>
              <a:srgbClr val="00C853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8"/>
          <p:cNvSpPr/>
          <p:nvPr/>
        </p:nvSpPr>
        <p:spPr>
          <a:xfrm>
            <a:off x="347472" y="1764792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8"/>
          <p:cNvSpPr/>
          <p:nvPr/>
        </p:nvSpPr>
        <p:spPr>
          <a:xfrm>
            <a:off x="1234440" y="176479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Dataset Collection &amp; Inventory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3657600" y="1764792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C853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00C853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8"/>
          <p:cNvSpPr/>
          <p:nvPr/>
        </p:nvSpPr>
        <p:spPr>
          <a:xfrm>
            <a:off x="320040" y="2093976"/>
            <a:ext cx="4114800" cy="301752"/>
          </a:xfrm>
          <a:prstGeom prst="rect">
            <a:avLst/>
          </a:prstGeom>
          <a:solidFill>
            <a:srgbClr val="FFF3E0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18"/>
          <p:cNvSpPr/>
          <p:nvPr/>
        </p:nvSpPr>
        <p:spPr>
          <a:xfrm>
            <a:off x="320040" y="2093976"/>
            <a:ext cx="868680" cy="301752"/>
          </a:xfrm>
          <a:prstGeom prst="rect">
            <a:avLst/>
          </a:prstGeom>
          <a:solidFill>
            <a:srgbClr val="FF6D00">
              <a:alpha val="80000"/>
            </a:srgbClr>
          </a:solidFill>
          <a:ln w="12700" cap="flat" cmpd="sng">
            <a:solidFill>
              <a:srgbClr val="FF6D0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8"/>
          <p:cNvSpPr/>
          <p:nvPr/>
        </p:nvSpPr>
        <p:spPr>
          <a:xfrm>
            <a:off x="347472" y="2093976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8"/>
          <p:cNvSpPr/>
          <p:nvPr/>
        </p:nvSpPr>
        <p:spPr>
          <a:xfrm>
            <a:off x="1234440" y="2093976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Dataset Understanding Module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8"/>
          <p:cNvSpPr/>
          <p:nvPr/>
        </p:nvSpPr>
        <p:spPr>
          <a:xfrm>
            <a:off x="3657600" y="2093976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6D0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6D00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8"/>
          <p:cNvSpPr/>
          <p:nvPr/>
        </p:nvSpPr>
        <p:spPr>
          <a:xfrm>
            <a:off x="320040" y="2423160"/>
            <a:ext cx="4114800" cy="30175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8"/>
          <p:cNvSpPr/>
          <p:nvPr/>
        </p:nvSpPr>
        <p:spPr>
          <a:xfrm>
            <a:off x="320040" y="2423160"/>
            <a:ext cx="868680" cy="301752"/>
          </a:xfrm>
          <a:prstGeom prst="rect">
            <a:avLst/>
          </a:prstGeom>
          <a:solidFill>
            <a:srgbClr val="78909C">
              <a:alpha val="80000"/>
            </a:srgbClr>
          </a:solidFill>
          <a:ln w="12700" cap="flat" cmpd="sng">
            <a:solidFill>
              <a:srgbClr val="78909C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18"/>
          <p:cNvSpPr/>
          <p:nvPr/>
        </p:nvSpPr>
        <p:spPr>
          <a:xfrm>
            <a:off x="347472" y="2423160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8"/>
          <p:cNvSpPr/>
          <p:nvPr/>
        </p:nvSpPr>
        <p:spPr>
          <a:xfrm>
            <a:off x="1234440" y="2423160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Data Quality Analysis Module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8"/>
          <p:cNvSpPr/>
          <p:nvPr/>
        </p:nvSpPr>
        <p:spPr>
          <a:xfrm>
            <a:off x="3657600" y="2423160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8"/>
          <p:cNvSpPr/>
          <p:nvPr/>
        </p:nvSpPr>
        <p:spPr>
          <a:xfrm>
            <a:off x="320040" y="2752344"/>
            <a:ext cx="4114800" cy="30175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18"/>
          <p:cNvSpPr/>
          <p:nvPr/>
        </p:nvSpPr>
        <p:spPr>
          <a:xfrm>
            <a:off x="320040" y="2752344"/>
            <a:ext cx="868680" cy="301752"/>
          </a:xfrm>
          <a:prstGeom prst="rect">
            <a:avLst/>
          </a:prstGeom>
          <a:solidFill>
            <a:srgbClr val="78909C">
              <a:alpha val="80000"/>
            </a:srgbClr>
          </a:solidFill>
          <a:ln w="12700" cap="flat" cmpd="sng">
            <a:solidFill>
              <a:srgbClr val="78909C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18"/>
          <p:cNvSpPr/>
          <p:nvPr/>
        </p:nvSpPr>
        <p:spPr>
          <a:xfrm>
            <a:off x="347472" y="275234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1234440" y="2752344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Data Cleaning Module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8"/>
          <p:cNvSpPr/>
          <p:nvPr/>
        </p:nvSpPr>
        <p:spPr>
          <a:xfrm>
            <a:off x="3657600" y="2752344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8"/>
          <p:cNvSpPr/>
          <p:nvPr/>
        </p:nvSpPr>
        <p:spPr>
          <a:xfrm>
            <a:off x="320040" y="3081528"/>
            <a:ext cx="4114800" cy="30175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18"/>
          <p:cNvSpPr/>
          <p:nvPr/>
        </p:nvSpPr>
        <p:spPr>
          <a:xfrm>
            <a:off x="320040" y="3081528"/>
            <a:ext cx="868680" cy="301752"/>
          </a:xfrm>
          <a:prstGeom prst="rect">
            <a:avLst/>
          </a:prstGeom>
          <a:solidFill>
            <a:srgbClr val="78909C">
              <a:alpha val="80000"/>
            </a:srgbClr>
          </a:solidFill>
          <a:ln w="12700" cap="flat" cmpd="sng">
            <a:solidFill>
              <a:srgbClr val="78909C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18"/>
          <p:cNvSpPr/>
          <p:nvPr/>
        </p:nvSpPr>
        <p:spPr>
          <a:xfrm>
            <a:off x="347472" y="3081528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1234440" y="3081528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EDA &amp; Visualization Module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8"/>
          <p:cNvSpPr/>
          <p:nvPr/>
        </p:nvSpPr>
        <p:spPr>
          <a:xfrm>
            <a:off x="3657600" y="3081528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8"/>
          <p:cNvSpPr/>
          <p:nvPr/>
        </p:nvSpPr>
        <p:spPr>
          <a:xfrm>
            <a:off x="320040" y="3410712"/>
            <a:ext cx="4114800" cy="30175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18"/>
          <p:cNvSpPr/>
          <p:nvPr/>
        </p:nvSpPr>
        <p:spPr>
          <a:xfrm>
            <a:off x="320040" y="3410712"/>
            <a:ext cx="868680" cy="301752"/>
          </a:xfrm>
          <a:prstGeom prst="rect">
            <a:avLst/>
          </a:prstGeom>
          <a:solidFill>
            <a:srgbClr val="78909C">
              <a:alpha val="80000"/>
            </a:srgbClr>
          </a:solidFill>
          <a:ln w="12700" cap="flat" cmpd="sng">
            <a:solidFill>
              <a:srgbClr val="78909C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8"/>
          <p:cNvSpPr/>
          <p:nvPr/>
        </p:nvSpPr>
        <p:spPr>
          <a:xfrm>
            <a:off x="347472" y="3410712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18"/>
          <p:cNvSpPr/>
          <p:nvPr/>
        </p:nvSpPr>
        <p:spPr>
          <a:xfrm>
            <a:off x="1234440" y="3410712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Feature Engineering Module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8"/>
          <p:cNvSpPr/>
          <p:nvPr/>
        </p:nvSpPr>
        <p:spPr>
          <a:xfrm>
            <a:off x="3657600" y="3410712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8"/>
          <p:cNvSpPr/>
          <p:nvPr/>
        </p:nvSpPr>
        <p:spPr>
          <a:xfrm>
            <a:off x="320040" y="3739896"/>
            <a:ext cx="4114800" cy="30175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18"/>
          <p:cNvSpPr/>
          <p:nvPr/>
        </p:nvSpPr>
        <p:spPr>
          <a:xfrm>
            <a:off x="320040" y="3739896"/>
            <a:ext cx="868680" cy="301752"/>
          </a:xfrm>
          <a:prstGeom prst="rect">
            <a:avLst/>
          </a:prstGeom>
          <a:solidFill>
            <a:srgbClr val="78909C">
              <a:alpha val="80000"/>
            </a:srgbClr>
          </a:solidFill>
          <a:ln w="12700" cap="flat" cmpd="sng">
            <a:solidFill>
              <a:srgbClr val="78909C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8"/>
          <p:cNvSpPr/>
          <p:nvPr/>
        </p:nvSpPr>
        <p:spPr>
          <a:xfrm>
            <a:off x="347472" y="3739896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7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8"/>
          <p:cNvSpPr/>
          <p:nvPr/>
        </p:nvSpPr>
        <p:spPr>
          <a:xfrm>
            <a:off x="1234440" y="3739896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AutoML Training &amp; Evaluation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8"/>
          <p:cNvSpPr/>
          <p:nvPr/>
        </p:nvSpPr>
        <p:spPr>
          <a:xfrm>
            <a:off x="3657600" y="3739896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8"/>
          <p:cNvSpPr/>
          <p:nvPr/>
        </p:nvSpPr>
        <p:spPr>
          <a:xfrm>
            <a:off x="320040" y="4069080"/>
            <a:ext cx="4114800" cy="30175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18"/>
          <p:cNvSpPr/>
          <p:nvPr/>
        </p:nvSpPr>
        <p:spPr>
          <a:xfrm>
            <a:off x="320040" y="4069080"/>
            <a:ext cx="868680" cy="301752"/>
          </a:xfrm>
          <a:prstGeom prst="rect">
            <a:avLst/>
          </a:prstGeom>
          <a:solidFill>
            <a:srgbClr val="78909C">
              <a:alpha val="80000"/>
            </a:srgbClr>
          </a:solidFill>
          <a:ln w="12700" cap="flat" cmpd="sng">
            <a:solidFill>
              <a:srgbClr val="78909C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18"/>
          <p:cNvSpPr/>
          <p:nvPr/>
        </p:nvSpPr>
        <p:spPr>
          <a:xfrm>
            <a:off x="347472" y="4069080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8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8"/>
          <p:cNvSpPr/>
          <p:nvPr/>
        </p:nvSpPr>
        <p:spPr>
          <a:xfrm>
            <a:off x="1234440" y="4069080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Insight Generation (LLM)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8"/>
          <p:cNvSpPr/>
          <p:nvPr/>
        </p:nvSpPr>
        <p:spPr>
          <a:xfrm>
            <a:off x="3657600" y="4069080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8"/>
          <p:cNvSpPr/>
          <p:nvPr/>
        </p:nvSpPr>
        <p:spPr>
          <a:xfrm>
            <a:off x="320040" y="4398264"/>
            <a:ext cx="4114800" cy="30175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18"/>
          <p:cNvSpPr/>
          <p:nvPr/>
        </p:nvSpPr>
        <p:spPr>
          <a:xfrm>
            <a:off x="320040" y="4398264"/>
            <a:ext cx="868680" cy="301752"/>
          </a:xfrm>
          <a:prstGeom prst="rect">
            <a:avLst/>
          </a:prstGeom>
          <a:solidFill>
            <a:srgbClr val="78909C">
              <a:alpha val="80000"/>
            </a:srgbClr>
          </a:solidFill>
          <a:ln w="12700" cap="flat" cmpd="sng">
            <a:solidFill>
              <a:srgbClr val="78909C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8"/>
          <p:cNvSpPr/>
          <p:nvPr/>
        </p:nvSpPr>
        <p:spPr>
          <a:xfrm>
            <a:off x="347472" y="43982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9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8"/>
          <p:cNvSpPr/>
          <p:nvPr/>
        </p:nvSpPr>
        <p:spPr>
          <a:xfrm>
            <a:off x="1234440" y="4398264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Report Generation (HTML + PDF)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8"/>
          <p:cNvSpPr/>
          <p:nvPr/>
        </p:nvSpPr>
        <p:spPr>
          <a:xfrm>
            <a:off x="3657600" y="4398264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8"/>
          <p:cNvSpPr/>
          <p:nvPr/>
        </p:nvSpPr>
        <p:spPr>
          <a:xfrm>
            <a:off x="320040" y="4727448"/>
            <a:ext cx="4114800" cy="30175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18"/>
          <p:cNvSpPr/>
          <p:nvPr/>
        </p:nvSpPr>
        <p:spPr>
          <a:xfrm>
            <a:off x="320040" y="4727448"/>
            <a:ext cx="868680" cy="301752"/>
          </a:xfrm>
          <a:prstGeom prst="rect">
            <a:avLst/>
          </a:prstGeom>
          <a:solidFill>
            <a:srgbClr val="78909C">
              <a:alpha val="80000"/>
            </a:srgbClr>
          </a:solidFill>
          <a:ln w="12700" cap="flat" cmpd="sng">
            <a:solidFill>
              <a:srgbClr val="78909C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18"/>
          <p:cNvSpPr/>
          <p:nvPr/>
        </p:nvSpPr>
        <p:spPr>
          <a:xfrm>
            <a:off x="347472" y="4727448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10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8"/>
          <p:cNvSpPr/>
          <p:nvPr/>
        </p:nvSpPr>
        <p:spPr>
          <a:xfrm>
            <a:off x="1234440" y="4727448"/>
            <a:ext cx="25603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455A64"/>
                </a:solidFill>
                <a:latin typeface="Calibri"/>
                <a:ea typeface="Calibri"/>
                <a:cs typeface="Calibri"/>
                <a:sym typeface="Calibri"/>
              </a:rPr>
              <a:t>Chat With Data Interface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8"/>
          <p:cNvSpPr/>
          <p:nvPr/>
        </p:nvSpPr>
        <p:spPr>
          <a:xfrm>
            <a:off x="3657600" y="4727448"/>
            <a:ext cx="749808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8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solidFill>
            <a:srgbClr val="7C4DFF"/>
          </a:solidFill>
          <a:ln w="12700" cap="flat" cmpd="sng">
            <a:solidFill>
              <a:srgbClr val="7C4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8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FOLDER STRUCTURE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8"/>
          <p:cNvSpPr/>
          <p:nvPr/>
        </p:nvSpPr>
        <p:spPr>
          <a:xfrm>
            <a:off x="4709160" y="1389888"/>
            <a:ext cx="4114800" cy="3657600"/>
          </a:xfrm>
          <a:prstGeom prst="rect">
            <a:avLst/>
          </a:prstGeom>
          <a:solidFill>
            <a:srgbClr val="0F1F3D"/>
          </a:solidFill>
          <a:ln w="12700" cap="flat" cmpd="sng">
            <a:solidFill>
              <a:srgbClr val="0F1F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8"/>
          <p:cNvSpPr/>
          <p:nvPr/>
        </p:nvSpPr>
        <p:spPr>
          <a:xfrm>
            <a:off x="4800600" y="1435608"/>
            <a:ext cx="393192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autonomous-data-analyst-agent/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├── datasets/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raw/         ← 10 Kaggle CSVs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processed/   ← cleaned data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src/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dataset_understanding/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data_quality/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data_cleaning/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eda/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feature_engineering/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automl/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insights/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├── reporting/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│   └── chat_with_data/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reports/         ← HTML &amp; PDF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├── notebooks/       ← Jupyter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├── app/             ← Streamlit UI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50"/>
              <a:buFont typeface="Courier New"/>
              <a:buNone/>
            </a:pPr>
            <a:r>
              <a:rPr lang="en-US" sz="850" b="0" i="0" u="none" strike="noStrike" cap="none">
                <a:solidFill>
                  <a:srgbClr val="90CAF9"/>
                </a:solidFill>
                <a:latin typeface="Courier New"/>
                <a:ea typeface="Courier New"/>
                <a:cs typeface="Courier New"/>
                <a:sym typeface="Courier New"/>
              </a:rPr>
              <a:t>└── config/          ← Settings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D"/>
        </a:solidFill>
        <a:effectLst/>
      </p:bgPr>
    </p:bg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9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565C0">
              <a:alpha val="25098"/>
            </a:srgbClr>
          </a:solidFill>
          <a:ln w="12700" cap="flat" cmpd="sng">
            <a:solidFill>
              <a:srgbClr val="1565C0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9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00B0FF">
              <a:alpha val="45098"/>
            </a:srgbClr>
          </a:solidFill>
          <a:ln w="12700" cap="flat" cmpd="sng">
            <a:solidFill>
              <a:srgbClr val="00B0FF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9"/>
          <p:cNvSpPr/>
          <p:nvPr/>
        </p:nvSpPr>
        <p:spPr>
          <a:xfrm>
            <a:off x="1371600" y="109728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9"/>
          <p:cNvSpPr/>
          <p:nvPr/>
        </p:nvSpPr>
        <p:spPr>
          <a:xfrm>
            <a:off x="1371600" y="201168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F"/>
              </a:buClr>
              <a:buSzPts val="2000"/>
              <a:buFont typeface="Calibri"/>
              <a:buNone/>
            </a:pPr>
            <a:r>
              <a:rPr lang="en-US" sz="2000" b="0" i="1" u="none" strike="noStrike" cap="none">
                <a:solidFill>
                  <a:srgbClr val="00B0FF"/>
                </a:solidFill>
                <a:latin typeface="Calibri"/>
                <a:ea typeface="Calibri"/>
                <a:cs typeface="Calibri"/>
                <a:sym typeface="Calibri"/>
              </a:rPr>
              <a:t>Ready to Build, Phase by Phase.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/>
          <p:nvPr/>
        </p:nvSpPr>
        <p:spPr>
          <a:xfrm>
            <a:off x="1371600" y="28346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BDEFB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BBDEFB"/>
                </a:solidFill>
                <a:latin typeface="Calibri"/>
                <a:ea typeface="Calibri"/>
                <a:cs typeface="Calibri"/>
                <a:sym typeface="Calibri"/>
              </a:rPr>
              <a:t>10 Modules  •  10 Datasets  •  1 Complete AI System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9"/>
          <p:cNvSpPr/>
          <p:nvPr/>
        </p:nvSpPr>
        <p:spPr>
          <a:xfrm>
            <a:off x="1371600" y="3474720"/>
            <a:ext cx="1691640" cy="384048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9"/>
          <p:cNvSpPr/>
          <p:nvPr/>
        </p:nvSpPr>
        <p:spPr>
          <a:xfrm>
            <a:off x="1371600" y="347472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Understanding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9"/>
          <p:cNvSpPr/>
          <p:nvPr/>
        </p:nvSpPr>
        <p:spPr>
          <a:xfrm>
            <a:off x="3200400" y="3474720"/>
            <a:ext cx="1691640" cy="384048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19"/>
          <p:cNvSpPr/>
          <p:nvPr/>
        </p:nvSpPr>
        <p:spPr>
          <a:xfrm>
            <a:off x="3200400" y="347472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9"/>
          <p:cNvSpPr/>
          <p:nvPr/>
        </p:nvSpPr>
        <p:spPr>
          <a:xfrm>
            <a:off x="5029200" y="3474720"/>
            <a:ext cx="1691640" cy="384048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9"/>
          <p:cNvSpPr/>
          <p:nvPr/>
        </p:nvSpPr>
        <p:spPr>
          <a:xfrm>
            <a:off x="5029200" y="347472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9"/>
          <p:cNvSpPr/>
          <p:nvPr/>
        </p:nvSpPr>
        <p:spPr>
          <a:xfrm>
            <a:off x="6858000" y="3474720"/>
            <a:ext cx="1691640" cy="384048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19"/>
          <p:cNvSpPr/>
          <p:nvPr/>
        </p:nvSpPr>
        <p:spPr>
          <a:xfrm>
            <a:off x="6858000" y="347472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9"/>
          <p:cNvSpPr/>
          <p:nvPr/>
        </p:nvSpPr>
        <p:spPr>
          <a:xfrm>
            <a:off x="1371600" y="4023360"/>
            <a:ext cx="1691640" cy="384048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19"/>
          <p:cNvSpPr/>
          <p:nvPr/>
        </p:nvSpPr>
        <p:spPr>
          <a:xfrm>
            <a:off x="1371600" y="402336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Insights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9"/>
          <p:cNvSpPr/>
          <p:nvPr/>
        </p:nvSpPr>
        <p:spPr>
          <a:xfrm>
            <a:off x="3200400" y="4023360"/>
            <a:ext cx="1691640" cy="384048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9"/>
          <p:cNvSpPr/>
          <p:nvPr/>
        </p:nvSpPr>
        <p:spPr>
          <a:xfrm>
            <a:off x="3200400" y="402336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9"/>
          <p:cNvSpPr/>
          <p:nvPr/>
        </p:nvSpPr>
        <p:spPr>
          <a:xfrm>
            <a:off x="5029200" y="4023360"/>
            <a:ext cx="1691640" cy="384048"/>
          </a:xfrm>
          <a:prstGeom prst="rect">
            <a:avLst/>
          </a:prstGeom>
          <a:solidFill>
            <a:srgbClr val="FFFFFF">
              <a:alpha val="12156"/>
            </a:srgbClr>
          </a:solidFill>
          <a:ln w="12700" cap="flat" cmpd="sng">
            <a:solidFill>
              <a:srgbClr val="00B0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9"/>
          <p:cNvSpPr/>
          <p:nvPr/>
        </p:nvSpPr>
        <p:spPr>
          <a:xfrm>
            <a:off x="5029200" y="4023360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Interface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9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Autonomous Data Analyst Agent  |  Project Plan 2025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1536</Words>
  <Application>Microsoft Office PowerPoint</Application>
  <PresentationFormat>On-screen Show (16:9)</PresentationFormat>
  <Paragraphs>417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Kishore Kannan</dc:creator>
  <cp:lastModifiedBy>Kishore Kannan</cp:lastModifiedBy>
  <cp:revision>1</cp:revision>
  <dcterms:modified xsi:type="dcterms:W3CDTF">2026-06-08T05:57:37Z</dcterms:modified>
</cp:coreProperties>
</file>